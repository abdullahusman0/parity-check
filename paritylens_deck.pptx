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2D4F"/>
                </a:solidFill>
                <a:latin typeface="Calibri"/>
              </a:rPr>
              <a:t>Catching bilingual exam errors before they reach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Alibaba Cloud AI Hackathon Pakistan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Two students. One exam. Two different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2D4F"/>
                </a:solidFill>
                <a:latin typeface="Calibri"/>
              </a:rPr>
              <a:t>Pakistani boards publish bilingual Urdu/English question papers so students can answer in the language they know best.</a:t>
            </a:r>
            <a:br/>
            <a:br/>
            <a:r>
              <a:t>A documented Lahore-board case found Urdu and English versions of the same Chemistry and Physics questions that asked genuinely different things — not awkward wording, different questions.</a:t>
            </a:r>
            <a:br/>
            <a:br/>
            <a:r>
              <a:t>This silently changes who gets which marks, based only on which language paper a student happened to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reported Lahore board mismatch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65960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57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ENGLISH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Which gas is not a greenhouse gas?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461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337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URDU VERSION — ILLUSTRATIVE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611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B33"/>
                </a:solidFill>
                <a:latin typeface="Calibri"/>
              </a:rPr>
              <a:t>کونسی گیس گرین ہاؤس گیس ہے؟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("Which gas is a greenhouse gas?")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Illustrative example, not a real leaked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 /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GROWING SURFACE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This is expanding, not shrinking.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2D4F"/>
                </a:solidFill>
                <a:latin typeface="Calibri"/>
              </a:rPr>
              <a:t>In 2026, the Punjab Board of Technical Education announced it will run Diploma of Information Technology exams in both Urdu and English — explicitly to give students a fairer chance to show what they know.</a:t>
            </a:r>
            <a:br/>
            <a:br/>
            <a:r>
              <a:t>That is the right intention. But every new bilingual paper is a new surface for silent drift, and right now nothing checks this systematically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Punjab Board of Technical Education, 2026 bilingual DIT announcement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9456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377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Bilingual exam adoption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132320" y="2743200"/>
            <a:ext cx="3566160" cy="1828800"/>
          </a:xfrm>
          <a:prstGeom prst="line">
            <a:avLst/>
          </a:prstGeom>
          <a:ln w="381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656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More bilingual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Conceptual trend. No fabricated numeric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AI READINESS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Urdu is still underserved by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2D4F"/>
                </a:solidFill>
                <a:latin typeface="Calibri"/>
              </a:rPr>
              <a:t>Generic translation or QA tools do not already solve this.</a:t>
            </a:r>
            <a:br/>
            <a:br/>
            <a:r>
              <a:t>UrduMMLU (2026) is a benchmark built from 26,431 native Urdu multiple-choice questions drawn from real exam material. It found large performance gaps for current AI models on Urdu-language academic content.</a:t>
            </a:r>
            <a:br/>
            <a:br/>
            <a:r>
              <a:t>That is exactly why a system for this language pair has to be purpose-built, not borrowed off the shelf.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UrduMMLU, 2026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286000"/>
            <a:ext cx="1463040" cy="2743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406908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B33"/>
                </a:solidFill>
                <a:latin typeface="Calibri"/>
              </a:rPr>
              <a:t>Performance gap on Urdu academic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English academic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Illustrative comparison, not exact benchmark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 /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PRODUCT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B33"/>
                </a:solidFill>
                <a:latin typeface="Calibri"/>
              </a:rPr>
              <a:t>An independent QA gate that checks Urdu/English exam papers mean the same thing, before they print.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An independent verification layer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Applied after both language versions already exist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Evidence-backed, with confidence scores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Human-reviewed before any 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WHAT IT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 translator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 question generator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An autograder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A fully automated rejection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 /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From upload to cleared paper.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61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PDF / images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031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OCR &amp;</a:t>
            </a:r>
            <a:br/>
            <a:r>
              <a:t>Segmentation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Bilingual</a:t>
            </a:r>
            <a:br/>
            <a:r>
              <a:t>Alignment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Deterministic</a:t>
            </a:r>
            <a:br/>
            <a:r>
              <a:t>Rule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61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numbers, units, options...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037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Risk-Ranked</a:t>
            </a:r>
            <a:br/>
            <a:r>
              <a:t>Reviewer Queue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39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Human</a:t>
            </a:r>
            <a:br/>
            <a:r>
              <a:t>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674620.0"/>
            <a:ext cx="274320" cy="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22860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3591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Cleared</a:t>
            </a:r>
            <a:br/>
            <a:r>
              <a:t>/ Export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33756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41071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Semantic</a:t>
            </a:r>
            <a:br/>
            <a:r>
              <a:t>Equivalence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8130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meaning-level drift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0" y="2674620.0"/>
            <a:ext cx="937260.0" cy="66294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29400" y="2674620.0"/>
            <a:ext cx="274320" cy="1051560.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3891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D2D4F"/>
                </a:solidFill>
                <a:latin typeface="Calibri"/>
              </a:rPr>
              <a:t>Every flagged question is shown with the exact evidence that triggered it. A paper is only cleared after a human reviewer signs 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MISMATCH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Six ways a translation can quietly go wrong.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NUMERIC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Numeric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"5 kg" becomes "50 kg"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0168" y="214884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488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23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Unit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kg vs g, °C vs °F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7376" y="214884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1488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POLARITY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23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Negation / polarity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Missing or added "not," "except," "least"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44584" y="214884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1488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423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Answer-option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Options don't match in count or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79476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FORMULA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69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Formula / symbol mismatch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8912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H₂O vs CO₂, F = ma vs wrong symbol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30168" y="379476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37947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069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Named-entity mismatch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438912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Newton vs Einstein, Lahore vs Karachi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216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7376" y="379476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37947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CONDITION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069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Missing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438912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"at constant temperature" dropped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07424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44584" y="3794760"/>
            <a:ext cx="777240" cy="201168"/>
          </a:xfrm>
          <a:prstGeom prst="roundRect">
            <a:avLst>
              <a:gd name="adj" fmla="val 20000"/>
            </a:avLst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4584" y="37947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SEMANTIC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4069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Semantic 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438912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Both versions look fine, but ask different questions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 / 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What's actually running under the hood.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Vision-Language</a:t>
            </a:r>
            <a:br/>
            <a:r>
              <a:t>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RTL Urdu + LTR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377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Question Segmentation</a:t>
            </a:r>
            <a:br/>
            <a:r>
              <a:t>&amp; Bilingual Alignment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Deterministic</a:t>
            </a:r>
            <a:br/>
            <a:r>
              <a:t>Rules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957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numbers, units, negation...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108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Cross-Lingual Semantic</a:t>
            </a:r>
            <a:br/>
            <a:r>
              <a:t>Equivalence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758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meaning-level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774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Confidence-Scored</a:t>
            </a:r>
            <a:br/>
            <a:r>
              <a:t>Evidence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Reviewer</a:t>
            </a:r>
            <a:br/>
            <a:r>
              <a:t>Interface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834640"/>
            <a:ext cx="32004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03520" y="2423160"/>
            <a:ext cx="457200" cy="41148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2834640"/>
            <a:ext cx="457200" cy="86868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2423160"/>
            <a:ext cx="365760" cy="41148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863840" y="2834640"/>
            <a:ext cx="365760" cy="86868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32720" y="2834640"/>
            <a:ext cx="27432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43484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Rules and semantic model run independently and are evaluated separately — a deliberate hybrid design.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 / 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REVIEWER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The human stays in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ENGLISH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B33"/>
                </a:solidFill>
                <a:latin typeface="Calibri"/>
              </a:rPr>
              <a:t>A car travels 60 km in 2 hours. What is its average speed?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URDU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ایک کار 60 کلومیٹر فی گھنٹہ چلتی ہے۔ اوسط رفتار کتنی ہے؟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("60 km per hour" — unit/time condition differs)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10332720" cy="6400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B33"/>
                </a:solidFill>
                <a:latin typeface="Calibri"/>
              </a:rPr>
              <a:t>!    Unit / condition mismatch detected     English: "in 2 hours" · Urdu: "per hour" · Confidence: 0.91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480560"/>
            <a:ext cx="105156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5262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B33"/>
                </a:solidFill>
                <a:latin typeface="Calibri"/>
              </a:rPr>
              <a:t>Reject flag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4480560"/>
            <a:ext cx="914400" cy="3200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4526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Accept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0352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D2D4F"/>
                </a:solidFill>
                <a:latin typeface="Calibri"/>
              </a:rPr>
              <a:t>A paper is only cleared after human sign-off. The system never declares a paper wrong on its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 /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How we're proving it actually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D2D4F"/>
                </a:solidFill>
                <a:latin typeface="Calibri"/>
              </a:rPr>
              <a:t>Benchmark of 100–300 real bilingual questions with controlled, seeded defects across every mismatch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Precision, recall, F1 per category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False positives per 100 questions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End-to-end latency per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2D4F"/>
                </a:solidFill>
                <a:latin typeface="Calibri"/>
              </a:rPr>
              <a:t>Three-way comparison: rules-only vs. semantic-only vs. hybrid.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  <a:latin typeface="Calibri"/>
              </a:rPr>
              <a:t>Live benchmark results — insert after evaluation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Placeholder for precision / recall / F1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We are not competing with authoring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2D4F"/>
                </a:solidFill>
                <a:latin typeface="Calibri"/>
              </a:rPr>
              <a:t>The obvious question: don't multilingual assessment systems already exist?</a:t>
            </a:r>
            <a:br/>
            <a:br/>
            <a:r>
              <a:t>Some do — for authoring and translation. ParityLens is neither. It is an independent post-authoring verification gate built around the specific failure modes of Urdu/English exam pairs.</a:t>
            </a:r>
            <a:br/>
            <a:br/>
            <a:r>
              <a:t>As of an August 2026 public-web search, we did not find a close public Pakistan deployment matching this exact end-to-end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19456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377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B33"/>
                </a:solidFill>
                <a:latin typeface="Calibri"/>
              </a:rPr>
              <a:t>Honest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2D4F"/>
                </a:solidFill>
                <a:latin typeface="Calibri"/>
              </a:rPr>
              <a:t>We are not claiming 'world\'s first.' We are claiming a narrow, defensible gap that no public system we could find is closing.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Anywhere a bilingual exam gets printed.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Examination 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BISE-style boards clearing SSC/HSSC and diploma papers before print.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0312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Technical / diploma 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Bilingual diploma rollouts where numeric and unit drift is most likely.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0312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Schools &amp; coaching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06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In-house bilingual test papers with no dedicated proofreading staff.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10312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Publishers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06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Bilingual practice material and past-paper compilations reproduced at scale.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10312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Beyond Pakistan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606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Any multilingual education system facing the same structural risk.</a:t>
            </a:r>
          </a:p>
        </p:txBody>
      </p:sp>
      <p:sp>
        <p:nvSpPr>
          <p:cNvPr id="27" name="Oval 26"/>
          <p:cNvSpPr/>
          <p:nvPr/>
        </p:nvSpPr>
        <p:spPr>
          <a:xfrm>
            <a:off x="992124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Built to be trusted with confidential exam material.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Human review is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paper is only cleared after a human reviewer signs off.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No automatic verdicts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Low-confidence flags are routed to a reviewer, never treated as fact.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10312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B33"/>
                </a:solidFill>
                <a:latin typeface="Calibri"/>
              </a:rPr>
              <a:t>Secure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Encrypted storage, short retention, role-based access. Uploaded papers are not used to train models by default.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2286000"/>
            <a:ext cx="365760" cy="365760"/>
          </a:xfrm>
          <a:prstGeom prst="ellipse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SCOPE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Deliberately narrow, on purpose.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Not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Student-facing app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LMS integration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Exam generator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Plagiarism detector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D4F"/>
                </a:solidFill>
                <a:latin typeface="Calibri"/>
              </a:rPr>
              <a:t>•  Full exam-board workflow replacement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2D4F"/>
                </a:solidFill>
                <a:latin typeface="Calibri"/>
              </a:rPr>
              <a:t>Staying narrow is what made a working, evidence-backed prototype possible in six days. One job, done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D2D4F"/>
                </a:solidFill>
                <a:latin typeface="Calibri"/>
              </a:rPr>
              <a:t>Judges see a lot of broad ideas. A clearly bounded one is easier to believe.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2D4F"/>
                </a:solidFill>
                <a:latin typeface="Calibri"/>
              </a:rPr>
              <a:t>ParityLens doesn't grade the exam. It makes sure both versions are asking the same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280"/>
                </a:solidFill>
                <a:latin typeface="Calibri"/>
              </a:rPr>
              <a:t>Next step: pilot with an examination board, school network, or publisher.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B33"/>
                </a:solidFill>
                <a:latin typeface="Calibri"/>
              </a:rPr>
              <a:t>ParityLens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